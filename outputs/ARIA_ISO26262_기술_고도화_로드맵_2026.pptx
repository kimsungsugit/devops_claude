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785006da594857" /><Relationship Type="http://schemas.openxmlformats.org/officeDocument/2006/relationships/extended-properties" Target="/docProps/app.xml" Id="Rabadc55cdda64142" /><Relationship Type="http://schemas.openxmlformats.org/officeDocument/2006/relationships/officeDocument" Target="/ppt/presentation.xml" Id="Rbe882b19a1b645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357046959b46f9"/>
  </p:sldMasterIdLst>
  <p:notesMasterIdLst>
    <p:notesMasterId xmlns:r="http://schemas.openxmlformats.org/officeDocument/2006/relationships" r:id="Rfc016f8218114c4f"/>
  </p:notesMasterIdLst>
  <p:sldIdLst>
    <p:sldId xmlns:r="http://schemas.openxmlformats.org/officeDocument/2006/relationships" id="256" r:id="R067571fe71a042e6"/>
    <p:sldId xmlns:r="http://schemas.openxmlformats.org/officeDocument/2006/relationships" id="257" r:id="R605e31cf1284417d"/>
    <p:sldId xmlns:r="http://schemas.openxmlformats.org/officeDocument/2006/relationships" id="258" r:id="Rc2bbec2ee30c4ca6"/>
    <p:sldId xmlns:r="http://schemas.openxmlformats.org/officeDocument/2006/relationships" id="259" r:id="R1115098220814665"/>
    <p:sldId xmlns:r="http://schemas.openxmlformats.org/officeDocument/2006/relationships" id="260" r:id="Rd6d38541511744bf"/>
    <p:sldId xmlns:r="http://schemas.openxmlformats.org/officeDocument/2006/relationships" id="261" r:id="Rd18db0a685ce4ee5"/>
    <p:sldId xmlns:r="http://schemas.openxmlformats.org/officeDocument/2006/relationships" id="262" r:id="R36bdfd0fe27a4cff"/>
    <p:sldId xmlns:r="http://schemas.openxmlformats.org/officeDocument/2006/relationships" id="263" r:id="R1ce7b4d734aa4cea"/>
    <p:sldId xmlns:r="http://schemas.openxmlformats.org/officeDocument/2006/relationships" id="264" r:id="R842818e7f0ee4ed5"/>
    <p:sldId xmlns:r="http://schemas.openxmlformats.org/officeDocument/2006/relationships" id="265" r:id="R33d56277a89f465e"/>
    <p:sldId xmlns:r="http://schemas.openxmlformats.org/officeDocument/2006/relationships" id="266" r:id="R4c2191f46eb0479b"/>
    <p:sldId xmlns:r="http://schemas.openxmlformats.org/officeDocument/2006/relationships" id="267" r:id="R1c2b5bbcaf644677"/>
    <p:sldId xmlns:r="http://schemas.openxmlformats.org/officeDocument/2006/relationships" id="268" r:id="Raa19d01163504587"/>
    <p:sldId xmlns:r="http://schemas.openxmlformats.org/officeDocument/2006/relationships" id="269" r:id="R903980a7ece34032"/>
    <p:sldId xmlns:r="http://schemas.openxmlformats.org/officeDocument/2006/relationships" id="270" r:id="R6802a22e068a4ef6"/>
    <p:sldId xmlns:r="http://schemas.openxmlformats.org/officeDocument/2006/relationships" id="271" r:id="Rd24eced315b44a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55bd730d534787" /><Relationship Type="http://schemas.openxmlformats.org/officeDocument/2006/relationships/slideMaster" Target="/ppt/slideMasters/slideMaster1.xml" Id="Re8357046959b46f9" /><Relationship Type="http://schemas.openxmlformats.org/officeDocument/2006/relationships/notesMaster" Target="/ppt/notesMasters/notesMaster1.xml" Id="Rfc016f8218114c4f" /><Relationship Type="http://schemas.openxmlformats.org/officeDocument/2006/relationships/presProps" Target="/ppt/presProps.xml" Id="R2ee75378902c4a8e" /><Relationship Type="http://schemas.openxmlformats.org/officeDocument/2006/relationships/tableStyles" Target="/ppt/tableStyles.xml" Id="R81bd981e9ffc47c8" /><Relationship Type="http://schemas.openxmlformats.org/officeDocument/2006/relationships/slide" Target="/ppt/slides/slide1.xml" Id="R067571fe71a042e6" /><Relationship Type="http://schemas.openxmlformats.org/officeDocument/2006/relationships/slide" Target="/ppt/slides/slide2.xml" Id="R605e31cf1284417d" /><Relationship Type="http://schemas.openxmlformats.org/officeDocument/2006/relationships/slide" Target="/ppt/slides/slide3.xml" Id="Rc2bbec2ee30c4ca6" /><Relationship Type="http://schemas.openxmlformats.org/officeDocument/2006/relationships/slide" Target="/ppt/slides/slide4.xml" Id="R1115098220814665" /><Relationship Type="http://schemas.openxmlformats.org/officeDocument/2006/relationships/slide" Target="/ppt/slides/slide5.xml" Id="Rd6d38541511744bf" /><Relationship Type="http://schemas.openxmlformats.org/officeDocument/2006/relationships/slide" Target="/ppt/slides/slide6.xml" Id="Rd18db0a685ce4ee5" /><Relationship Type="http://schemas.openxmlformats.org/officeDocument/2006/relationships/slide" Target="/ppt/slides/slide7.xml" Id="R36bdfd0fe27a4cff" /><Relationship Type="http://schemas.openxmlformats.org/officeDocument/2006/relationships/slide" Target="/ppt/slides/slide8.xml" Id="R1ce7b4d734aa4cea" /><Relationship Type="http://schemas.openxmlformats.org/officeDocument/2006/relationships/slide" Target="/ppt/slides/slide9.xml" Id="R842818e7f0ee4ed5" /><Relationship Type="http://schemas.openxmlformats.org/officeDocument/2006/relationships/slide" Target="/ppt/slides/slide10.xml" Id="R33d56277a89f465e" /><Relationship Type="http://schemas.openxmlformats.org/officeDocument/2006/relationships/slide" Target="/ppt/slides/slide11.xml" Id="R4c2191f46eb0479b" /><Relationship Type="http://schemas.openxmlformats.org/officeDocument/2006/relationships/slide" Target="/ppt/slides/slide12.xml" Id="R1c2b5bbcaf644677" /><Relationship Type="http://schemas.openxmlformats.org/officeDocument/2006/relationships/slide" Target="/ppt/slides/slide13.xml" Id="Raa19d01163504587" /><Relationship Type="http://schemas.openxmlformats.org/officeDocument/2006/relationships/slide" Target="/ppt/slides/slide14.xml" Id="R903980a7ece34032" /><Relationship Type="http://schemas.openxmlformats.org/officeDocument/2006/relationships/slide" Target="/ppt/slides/slide15.xml" Id="R6802a22e068a4ef6" /><Relationship Type="http://schemas.openxmlformats.org/officeDocument/2006/relationships/slide" Target="/ppt/slides/slide16.xml" Id="Rd24eced315b44a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054f1a9a2e48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3b6c3ac76e4c8c" /><Relationship Type="http://schemas.openxmlformats.org/officeDocument/2006/relationships/notesMaster" Target="/ppt/notesMasters/notesMaster1.xml" Id="R277e7166dd0249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c3a453de874494" /><Relationship Type="http://schemas.openxmlformats.org/officeDocument/2006/relationships/notesMaster" Target="/ppt/notesMasters/notesMaster1.xml" Id="Rb1e29f0e6ae541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8ebdce3e4e4c2c" /><Relationship Type="http://schemas.openxmlformats.org/officeDocument/2006/relationships/notesMaster" Target="/ppt/notesMasters/notesMaster1.xml" Id="R0281d7da50a14c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83503e359b4dce" /><Relationship Type="http://schemas.openxmlformats.org/officeDocument/2006/relationships/notesMaster" Target="/ppt/notesMasters/notesMaster1.xml" Id="R861145831a634c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48d011a8134b11" /><Relationship Type="http://schemas.openxmlformats.org/officeDocument/2006/relationships/notesMaster" Target="/ppt/notesMasters/notesMaster1.xml" Id="R322d38ae02b343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710b3c509c4d51" /><Relationship Type="http://schemas.openxmlformats.org/officeDocument/2006/relationships/notesMaster" Target="/ppt/notesMasters/notesMaster1.xml" Id="Rfad27aea50a542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7b28d0e5a64d7a" /><Relationship Type="http://schemas.openxmlformats.org/officeDocument/2006/relationships/notesMaster" Target="/ppt/notesMasters/notesMaster1.xml" Id="R5c95893b71594c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d11224606c4b71" /><Relationship Type="http://schemas.openxmlformats.org/officeDocument/2006/relationships/notesMaster" Target="/ppt/notesMasters/notesMaster1.xml" Id="R0a73cabdfcf146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8aebf814b74fbe" /><Relationship Type="http://schemas.openxmlformats.org/officeDocument/2006/relationships/notesMaster" Target="/ppt/notesMasters/notesMaster1.xml" Id="R9eb44f2df97048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95252073a2489e" /><Relationship Type="http://schemas.openxmlformats.org/officeDocument/2006/relationships/notesMaster" Target="/ppt/notesMasters/notesMaster1.xml" Id="R95916e9760c042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ed09c7e8e94154" /><Relationship Type="http://schemas.openxmlformats.org/officeDocument/2006/relationships/notesMaster" Target="/ppt/notesMasters/notesMaster1.xml" Id="R9141162163a44e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28e39f25714685" /><Relationship Type="http://schemas.openxmlformats.org/officeDocument/2006/relationships/notesMaster" Target="/ppt/notesMasters/notesMaster1.xml" Id="Rfa3c9e86460848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1760952c604db3" /><Relationship Type="http://schemas.openxmlformats.org/officeDocument/2006/relationships/notesMaster" Target="/ppt/notesMasters/notesMaster1.xml" Id="Re2d352c3197446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734ed3d6284a9e" /><Relationship Type="http://schemas.openxmlformats.org/officeDocument/2006/relationships/notesMaster" Target="/ppt/notesMasters/notesMaster1.xml" Id="R88dc5f12497243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69c3108be74dfe" /><Relationship Type="http://schemas.openxmlformats.org/officeDocument/2006/relationships/notesMaster" Target="/ppt/notesMasters/notesMaster1.xml" Id="Reb3310858ac748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28defc5fc3470b" /><Relationship Type="http://schemas.openxmlformats.org/officeDocument/2006/relationships/notesMaster" Target="/ppt/notesMasters/notesMaster1.xml" Id="R8d5674dcd65c4e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41ef335e8b4c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c32e2aa612457f" /><Relationship Type="http://schemas.openxmlformats.org/officeDocument/2006/relationships/slideLayout" Target="/ppt/slideLayouts/slideLayout1.xml" Id="R9a5bb735c2804d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5bb735c2804d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d324d93bf414c" /><Relationship Type="http://schemas.openxmlformats.org/officeDocument/2006/relationships/image" Target="/ppt/media/image.png" Id="R054b359b95644772" /><Relationship Type="http://schemas.openxmlformats.org/officeDocument/2006/relationships/notesSlide" Target="/ppt/notesSlides/notesSlide1.xml" Id="R53a7ebbebc4e45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f174674ca4af9" /><Relationship Type="http://schemas.openxmlformats.org/officeDocument/2006/relationships/notesSlide" Target="/ppt/notesSlides/notesSlide2.xml" Id="R373945d5244e4b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f14afd8df40db" /><Relationship Type="http://schemas.openxmlformats.org/officeDocument/2006/relationships/notesSlide" Target="/ppt/notesSlides/notesSlide3.xml" Id="Rfbb091892f8b47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b130b65ce4f7c" /><Relationship Type="http://schemas.openxmlformats.org/officeDocument/2006/relationships/notesSlide" Target="/ppt/notesSlides/notesSlide4.xml" Id="R189412ba50e442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0b0e21aa240f1" /><Relationship Type="http://schemas.openxmlformats.org/officeDocument/2006/relationships/notesSlide" Target="/ppt/notesSlides/notesSlide5.xml" Id="Re029e6e7e19448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ada67870341f5" /><Relationship Type="http://schemas.openxmlformats.org/officeDocument/2006/relationships/image" Target="/ppt/media/image.jpeg" Id="Rbe6b78c270844c10" /><Relationship Type="http://schemas.openxmlformats.org/officeDocument/2006/relationships/image" Target="/ppt/media/image2.jpeg" Id="R3a592cd7f910428e" /><Relationship Type="http://schemas.openxmlformats.org/officeDocument/2006/relationships/image" Target="/ppt/media/image3.jpeg" Id="R3596768f4c23451c" /><Relationship Type="http://schemas.openxmlformats.org/officeDocument/2006/relationships/notesSlide" Target="/ppt/notesSlides/notesSlide6.xml" Id="R8fed0611959442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bbb50f8624e5c" /><Relationship Type="http://schemas.openxmlformats.org/officeDocument/2006/relationships/notesSlide" Target="/ppt/notesSlides/notesSlide7.xml" Id="Raede09b9287d46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08f775bc14581" /><Relationship Type="http://schemas.openxmlformats.org/officeDocument/2006/relationships/notesSlide" Target="/ppt/notesSlides/notesSlide8.xml" Id="R40ac6a9b943949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e626af7c34689" /><Relationship Type="http://schemas.openxmlformats.org/officeDocument/2006/relationships/notesSlide" Target="/ppt/notesSlides/notesSlide9.xml" Id="R759f9392a2ae4a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d32e2831e42c3" /><Relationship Type="http://schemas.openxmlformats.org/officeDocument/2006/relationships/notesSlide" Target="/ppt/notesSlides/notesSlide10.xml" Id="Re864464f964449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eb4eec3674b90" /><Relationship Type="http://schemas.openxmlformats.org/officeDocument/2006/relationships/notesSlide" Target="/ppt/notesSlides/notesSlide11.xml" Id="Rcc2f46148ab645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256fb40b046df" /><Relationship Type="http://schemas.openxmlformats.org/officeDocument/2006/relationships/notesSlide" Target="/ppt/notesSlides/notesSlide12.xml" Id="R6fdb006a081445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80bf572b242ce" /><Relationship Type="http://schemas.openxmlformats.org/officeDocument/2006/relationships/notesSlide" Target="/ppt/notesSlides/notesSlide13.xml" Id="R56d66d3d525246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2c46ccb754272" /><Relationship Type="http://schemas.openxmlformats.org/officeDocument/2006/relationships/notesSlide" Target="/ppt/notesSlides/notesSlide14.xml" Id="R4f7d48211a0548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3091d5f244679" /><Relationship Type="http://schemas.openxmlformats.org/officeDocument/2006/relationships/notesSlide" Target="/ppt/notesSlides/notesSlide15.xml" Id="R4ea6d0f688bf4f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7121a31c44317" /><Relationship Type="http://schemas.openxmlformats.org/officeDocument/2006/relationships/notesSlide" Target="/ppt/notesSlides/notesSlide16.xml" Id="R74a8a4d139044d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A28E7-3110-4F0B-9634-20DEC431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2900"/>
            <a:ext cx="5572125" cy="58293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b359b95644772"/>
          <a:srcRect xmlns:a="http://schemas.openxmlformats.org/drawingml/2006/main" l="23102" t="0" r="231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342900"/>
            <a:ext cx="5572125" cy="582930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B3080-77B9-45E4-AF1E-97D5DAA3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2026 ARIA 기술 전략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3EC683C-40C8-4E1C-8321-A4BDCFEA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2863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ISO 26262 증거를</a:t>
            </a:r>
          </a:p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재사용 가능한 자산으로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AE105-2254-438F-BBA2-8D37607B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5095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설계–시험–실행 증거를 연결하는 ARIA와</a:t>
            </a:r>
          </a:p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2026 하반기 RAG 고도화 로드맵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436A5-7BA9-43D3-9466-517C8B08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4953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2B1DE-6DF0-4E26-A7A4-102043BE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ISO 26262 기반 자동차 SW 개발·검증 지능화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43A90-12F3-4476-8AE9-864E82A4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2026.07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23F21-7284-4EC6-8C31-247F6C47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</a:t>
            </a:r>
          </a:p>
        </p:txBody>
      </p:sp>
    </p:spTree>
    <p:extLst>
      <p:ext uri="{BB962C8B-B14F-4D97-AF65-F5344CB8AC3E}">
        <p14:creationId xmlns:p14="http://schemas.microsoft.com/office/powerpoint/2010/main" val="12832962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9AEAFE-6620-4FAC-A78B-F32051DF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EXECUTIVE THESIS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F38E0ED-0F8D-44F5-ADFB-2FF44152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다음 단계는 문서 자동화가 아니라 ‘증거 디지털 스레드’다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1D38F-F796-4C01-83B6-3EFE8541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38475"/>
            <a:ext cx="8763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B58E1-9436-44D6-BF85-5ED00A4E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575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3EF06-8229-4B18-8426-ECDF70CE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72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2B732-7B58-4A62-A08A-C462D47B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38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현재 ARIA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5631C-1FDB-4603-970E-F8BE82E2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241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64FFB-F177-41CB-9CAA-7D368CD4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요구·설계·시험·실행 결과를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결정적 ID와 10개 밴드로 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215BC-2C73-4C92-9B80-3AE8B017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0"/>
            <a:ext cx="32575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50529-9FF0-48BC-9E00-009C88A9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72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A1AD5-2425-40C8-A4F6-077FA2DA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38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2026 고도화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FB6C3-4E6B-4669-8167-D7538613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통제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44DCD-3FF4-4190-8DED-EF6C6572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8612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버전·해시·ASIL·승인·권한을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증거 자산의 기본 속성으로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25BFE-A511-4A10-B66C-899A74AE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14500"/>
            <a:ext cx="32575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CDD5F-F4A2-4C99-90EB-22BDBB33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52625"/>
            <a:ext cx="72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B847B-4AA1-41F6-955C-5B8B9DA7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확장 가치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9F576-6480-4253-B2B6-76281698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241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재사용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BEB89-AC28-4ACF-9587-81E5A474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8612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승인된 패턴·근거를 RAG로 검색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신규 프로젝트의 품질·속도 향상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4EEF4-1023-4156-A0FC-4351CFA9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04965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19797B-CFBE-4598-A9E0-05AA3ECD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rPr>
              <a:t>운영 원칙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2DE31-1CFE-49BC-9DDA-488B074E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1492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승인·서명된 원본 산출물이 SSOT이고, AI·RAG는 근거 탐색과 초안 생성을 돕는 보조 계층이다.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0B3A6-44FA-47EA-B7C5-54234CA0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 / ISO 26262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837B43-B47A-4EF2-83BA-1C76000D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55542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004787-C998-42FD-AAE3-8A7C2597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TRACE CONTRACT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E3A9A01-5FAA-42DF-BBA6-CB5D585D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ISO 26262의 핵심 계약은 설계와 검증의 5개 수평쌍이다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95233-5CD4-4D2E-B5B6-352E0321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2750" y="18764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2B404-539E-496A-89BE-4592B63A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2750" y="273367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F55B9-2ADA-450F-BF06-5B0C35BC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2750" y="35909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95AF3-A2A6-4B73-82F1-C86365CF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2750" y="444817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1DAD5-BBE5-44A0-B7FF-50A89BD8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2750" y="53054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9C326-3B1C-494A-986E-DDD80388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38550" y="1314450"/>
            <a:ext cx="188595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E7152-C5EC-44D3-8C22-080C9974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0" y="1314450"/>
            <a:ext cx="188595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BFC9A-237D-476D-B6B9-EBC0EA27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설계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663F9-9A59-493B-9943-481FAE50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00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E1648-1408-4CE8-AE08-3192E5FF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2247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E82FD-1232-4415-822B-5AB0C42B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85925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SyRS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CAB63-AF6D-43CB-B167-69934124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049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시스템 요구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5539F-6831-4CD6-B2A8-1D666E2E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247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33E48-A993-44B6-81B4-B3160A19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26313-9A7D-4572-AE6D-E01E1E97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622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HW–SW 인터페이스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93C7B-ABE6-48F4-AA25-CEE22AE3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2247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93A16-2614-4665-9164-E55CE82B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DAEE6-70B4-45F2-A196-DE63F0D8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194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SW 아키텍처 설계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3AD12-D1C1-4E03-A1FE-1EFB1136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247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2DF4A2-F1F0-4377-903D-FBAF7B14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57675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UDS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7FD5C-E19C-4AD5-B39D-04894F7B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767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단위 상세 설계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B17C38-DBE6-4E68-B59B-A9E02784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2247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C4EF74-A5C7-442C-921B-FDAE0703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Source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FBA67E-3CF2-4676-B233-443A7713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339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소스코드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D5D262-6160-4F46-A7C4-30584726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00200"/>
            <a:ext cx="2247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A20490-3D43-4F1D-9866-11857D37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859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SyTS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413594-E32F-4C8F-8ED0-5FB65FD6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70497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시스템 시험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02BEDE-517D-40B9-BABD-A40D42D2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2247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195A67-EA0A-42B6-A3B6-70CA3302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431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SyITS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C7EA55-16DD-4FB3-A4E1-4FFE39E4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6222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시스템 통합시험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74B5B0-7528-4938-B3DF-658FE09C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14700"/>
            <a:ext cx="2247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D4688D-F46D-4968-AE1B-5D7F2800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004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SITS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ACA9B7-80D7-4C5B-A248-9731A4B3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41947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SW 통합시험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14100B-0003-44E8-92AE-15702BE7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71950"/>
            <a:ext cx="2247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1F51EB-F2AE-4372-BBF3-1BB4ED4C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57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SUTS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EEEC23-064D-4A87-B355-1335C892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27672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SW 단위시험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5176E2-7EC3-4422-B464-75BBC9FB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29200"/>
            <a:ext cx="2247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04768C-7345-485E-8D6F-1E6B07CB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149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VectorCAST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649790-80AA-4A63-8737-82122C52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3397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실행 결과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6BCD24-767B-49CD-89BA-153BE1A9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2667000" cy="29146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141E44-D2B1-48D4-8DFF-D5DE1095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241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SRS / SwRS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E02C6D-D187-47BF-BA5D-5749BA18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813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rPr>
              <a:t>추적 허브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B81494-B489-4EB1-9B7A-64E3B9E3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71850"/>
            <a:ext cx="209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745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1D5D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1D5DB"/>
                </a:solidFill>
                <a:latin typeface="Malgun Gothic"/>
                <a:ea typeface="Malgun Gothic"/>
                <a:cs typeface="Malgun Gothic"/>
              </a:rPr>
              <a:t>요구사항 행이 상위 시스템 요구,</a:t>
            </a:r>
          </a:p>
          <a:p xmlns:a="http://schemas.openxmlformats.org/drawingml/2006/main">
            <a:pPr algn="ctr">
              <a:defRPr sz="1275" b="0">
                <a:solidFill>
                  <a:srgbClr val="D1D5D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1D5DB"/>
                </a:solidFill>
                <a:latin typeface="Malgun Gothic"/>
                <a:ea typeface="Malgun Gothic"/>
                <a:cs typeface="Malgun Gothic"/>
              </a:rPr>
              <a:t>하위 설계·소스, 수평 시험 증거를</a:t>
            </a:r>
          </a:p>
          <a:p xmlns:a="http://schemas.openxmlformats.org/drawingml/2006/main">
            <a:pPr algn="ctr">
              <a:defRPr sz="1275" b="0">
                <a:solidFill>
                  <a:srgbClr val="D1D5D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1D5DB"/>
                </a:solidFill>
                <a:latin typeface="Malgun Gothic"/>
                <a:ea typeface="Malgun Gothic"/>
                <a:cs typeface="Malgun Gothic"/>
              </a:rPr>
              <a:t>하나의 ID 축으로 묶는다.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F81DAB-6AA8-47E6-BB9A-7372B5B5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005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D8AA50-1E4F-4A4D-9C2D-C13F8990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100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SwRS 검증: STS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B6ABCD-F9AF-46B6-A9F9-929ACB0A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0687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BD57EE-63A4-45AE-976C-507C43B1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1026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라벨 주의  SUTS=SW 단위시험 · SITS=SW 통합시험 · SyITS=시스템 통합시험 · SyTS=시스템 시험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BBA0E9-D387-4282-B3AE-D230B2D4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근거: AGENTS.md · report_gen/trace_link_table.py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6AA3B3-DA75-4526-A973-071229EC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 / ISO 26262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72356B-ACDC-4C80-967C-476E6C76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393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64657B-2B46-4CC4-B3F1-6A890815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CURRENT ARCHITECTURE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088C977-60BB-4C4F-BB83-282A63A3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ARIA는 입력–추적–생성–검증을 하나의 증거 흐름으로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D5D29-9CDF-4998-A8B9-8A25F81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429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715AF-5AB5-4B58-92B6-86A89B81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242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현재 구현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95258-772D-4E7C-825E-ABF3A73F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43225"/>
            <a:ext cx="5143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2CA73-B38F-4363-8CF5-545686A1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43225"/>
            <a:ext cx="5143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AC5E1-AE7B-453E-A59C-83C3BB65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43225"/>
            <a:ext cx="5143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31EF7-15F9-423E-8ACC-EF1BB16C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43225"/>
            <a:ext cx="5143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9264F-1989-4621-915C-D57E6214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962150" cy="3105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B2B4E-4B8A-4233-8C1A-59708CE3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9931C-2BE1-4C91-A12A-59ED0A90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입력 증거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4DACB-AA81-439C-B927-EA00B614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4850" y="2867025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F9E92-E52B-4585-95EA-9971BDB8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SCM Git / SVN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F070B-D6C0-4EA9-A08D-61437912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SRS·SDS·HSIS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7743A-2D34-4F58-9665-825A720B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C/H 소스·QAC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D9538-FF45-44D9-86B8-A815B058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Jenkins·VectorCAST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BDA1D-7564-4950-8532-DCDF1BB3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95450"/>
            <a:ext cx="1962150" cy="3105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E1D7D-EEB4-4F33-8F97-40C8544E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859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02C96-FC39-48A8-9E6F-2559CEE4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03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결정적 파싱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AED30-8AD1-49A4-9C6B-7551D19C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90850" y="2867025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B0B4E3-9231-4CD8-904A-C82D1142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1467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형식별 파서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726169-C353-40B6-9FEF-2092E65F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861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요구·함수·시험 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6C437-1FF1-4057-901C-ADF590B8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5762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정규화·충돌 감사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354906-CACB-4DD6-B6AB-2F8E0584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291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5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변경 영향 2-hop 분석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CE0C0C-42D8-4C71-AF9E-042C0E3C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962150" cy="3105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B6982F-5632-480B-B45E-698A72DA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859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62DEF2-655D-493D-A882-214F4FA1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추적 코어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EE19AB-11B3-421E-B0D1-B00CC7DE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76850" y="2867025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D5CB80-2624-435B-9C13-652D78D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1467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10개 band SSOT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17F8F2-EC21-4EAC-AA31-2D8B6845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861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요구 ID 중심 star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870158-D673-4CC0-8239-1A8B9C6E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5762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ASIL·coverage gap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4A10CE-177E-45F5-802C-3E2DA671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291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Trace audit XLSX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25073B-25DA-465F-9064-C0CE4FD2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95450"/>
            <a:ext cx="1962150" cy="3105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475664-9A80-4765-9C26-437B17D9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859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AEE2C3-24E6-4BFA-AFFA-19C1191F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003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AI · RAG 보강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B2D3C3-7284-41B5-9CE2-96D02788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62850" y="2867025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A0025B-6865-482C-91F3-7BBF3DAD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1467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Gemini 설명·초안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163A00-C763-4B38-ABC8-BABA5667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61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근거 검색·출처 인용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0C137A-21C7-48D1-A230-D42EFE2A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5762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승인·대화 이력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501BD2-39AE-476C-859E-FB7EF2CB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291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성공 수정 학습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8BAA7B-2D93-466E-A6B5-B4F32669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695450"/>
            <a:ext cx="1962150" cy="3105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26E498-622A-46CA-8B6A-2C20765A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859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988697-AFCD-4437-AEE3-EFD1D16B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설계·시험 산출물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47850A-BAA4-4830-8BC9-BC087B13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48850" y="2867025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84AB0B-5BB1-490C-903D-A2E31D52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1467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UDS·STS·SUTS·SITS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C9A6B8-BFB4-4141-9F53-C6A2BF4D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861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SwUT·SwIT·SwSA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5EEB7F-5A9F-4B32-9B19-444D40DA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5762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DOCX·XLSM·HTML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E4B0CD-0280-423A-9D76-0C746740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291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Quality DB·Dashboard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EFDEE5-D52E-4C3D-BD21-460CA1BA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00650"/>
            <a:ext cx="111061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A18400-14F1-4862-A230-C4F185F8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FastAPI + React/Vite + report_gen/generators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50780A-E5B5-451C-B9C2-E9C41F15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4102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1D5D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1D5DB"/>
                </a:solidFill>
                <a:latin typeface="Malgun Gothic"/>
                <a:ea typeface="Malgun Gothic"/>
                <a:cs typeface="Malgun Gothic"/>
              </a:rPr>
              <a:t>Jenkins는 배포 엔진이 아니라 분석 데이터 소스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D9F1EB-DC4C-4752-8688-B0EB5133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102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BBF2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BBF24"/>
                </a:solidFill>
                <a:latin typeface="Malgun Gothic"/>
                <a:ea typeface="Malgun Gothic"/>
                <a:cs typeface="Malgun Gothic"/>
              </a:rPr>
              <a:t>CI는 검증 전용 · CD 단계 미구현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C2F29E-B8C0-48E4-8BC8-19948BEA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근거: CLAUDE.md · backend/main.py · backend/routers · report_gen · generators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A315E8-71B4-4AE1-B8B3-73C46002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 / ISO 26262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535EED-68DA-48B7-B1AF-5F1AE0A1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50376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2BEC90-0912-498E-80A4-26D51B00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TRACE DATA MODEL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2FFD55C-4794-4DD2-9418-B9F54E7E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33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10개 밴드는 ‘밴드 간 추정’이 아니라 요구 ID 중심의 방사형 링크로 결합된다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70B06-A6BF-4FEE-91DD-C9302F36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429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57858-543F-4DB8-8DB9-7E813AC6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242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현재 구현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A8596-5446-4347-A4D9-2D49CDDF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428750" y="1924050"/>
            <a:ext cx="1285875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78AFA-6B46-45F2-B0A2-28F16D7A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14625" y="1657350"/>
            <a:ext cx="295275" cy="1724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EF04D-B5CA-45B3-B507-1180DFC2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14625" y="1924050"/>
            <a:ext cx="1876425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773F8-4D40-4B5A-9E9B-FB4099C8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295400" y="3181350"/>
            <a:ext cx="141922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CEE96-80E9-43D8-AB32-08745123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14625" y="3181350"/>
            <a:ext cx="200977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B6A5E-7D76-4D9C-A429-1441393F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95400" y="3381375"/>
            <a:ext cx="1419225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BFBBE-BE48-464D-B597-B7382CFD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14625" y="3381375"/>
            <a:ext cx="2009775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F40D1-6DA6-4C51-83D8-F64F234B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428750" y="3381375"/>
            <a:ext cx="1285875" cy="2314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D1701-8374-4A83-B27D-BA74602D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14625" y="3381375"/>
            <a:ext cx="295275" cy="2581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B602D-823D-48E6-B801-8A337526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14625" y="3381375"/>
            <a:ext cx="1876425" cy="2314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6F71B-7581-43B9-A638-E139758C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F0DB1-3F65-4912-8280-02376BEE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SyRS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5ACE3-185B-4EA9-A9F7-1D744B25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2875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C45BE-B739-4AB4-8C5B-40E84212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24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47E69-1B8C-44AE-8428-85138B5D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9545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39CAD9-80EA-4474-8C07-341D63CF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90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324BB-1058-477A-B935-0F3884B1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3B42C-ABD7-4C94-893D-2BA6A817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UDS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88E9FA-9849-41F0-AEA0-F8C2A06A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F232AC-8644-44F6-AFC5-7C83C080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461808-B178-40F6-9CDC-1A69C59A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BB58C9-2D24-46AD-9654-A414A14B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7C644F-3787-4CE1-B022-6C2E3E2C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1005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CF5521-C796-4952-982A-2AF42F6F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053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SITS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5B3804-11D1-4639-B0C2-925B074F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F1B33B-269B-4C49-BE54-34E88181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SyTS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708474-BA97-46DC-A845-94EA7C44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3405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F5B5F7-68CE-4857-BA51-E5214153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293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SyITS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313E8C-6DD6-457F-A661-3516912B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67350"/>
            <a:ext cx="1352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43A9BE-90F8-492D-ACA9-B3CE0A50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626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VectorCAST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83C48B-6887-43C3-A2DD-87C34706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52750"/>
            <a:ext cx="1333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690F4D-E5FA-4811-B3F7-A8DC077D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146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SwRS-123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4B5467-F034-43E6-9E03-A5665946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671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3C5F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3C5FD"/>
                </a:solidFill>
                <a:latin typeface="Malgun Gothic"/>
                <a:ea typeface="Malgun Gothic"/>
                <a:cs typeface="Malgun Gothic"/>
              </a:rPr>
              <a:t>target requirement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1539F8-59B3-46DC-8FC8-DA9A69BB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링크 레코드의 핵심</a:t>
            </a:r>
          </a:p>
        </p:txBody>
      </p:sp>
      <p:graphicFrame>
        <p:nvGraphicFramePr>
          <p:cNvPr id="84" name=""/>
          <p:cNvGraphicFramePr/>
          <p:nvPr/>
        </p:nvGraphicFramePr>
        <p:xfrm>
          <a:off xmlns:a="http://schemas.openxmlformats.org/drawingml/2006/main" x="6324600" y="2038350"/>
          <a:ext xmlns:a="http://schemas.openxmlformats.org/drawingml/2006/main" cx="49530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3333750"/>
              </a:tblGrid>
              <a:tr h="428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필드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target_id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추적 허브가 되는 요구사항 ID</a:t>
                      </a:r>
                    </a:p>
                  </a:txBody>
                  <a:tcPr marL="76200" marR="76200" marT="66675" marB="66675" anchor="ctr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related_id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설계·시험·실행 증거 ID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related_type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10개 밴드 중 하나</a:t>
                      </a:r>
                    </a:p>
                  </a:txBody>
                  <a:tcPr marL="76200" marR="76200" marT="66675" marB="66675" anchor="ctr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source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문서·도구·파서 provenance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직접/간접 링크의 신뢰도</a:t>
                      </a:r>
                    </a:p>
                  </a:txBody>
                  <a:tcPr marL="76200" marR="76200" marT="66675" marB="66675" anchor="ctr"/>
                </a:tc>
              </a:tr>
            </a:tbl>
          </a:graphicData>
        </a:graphic>
      </p:graphicFrame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CFE557-9400-4ED8-B45C-847D861E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3395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4BAC47-0656-4789-8685-F9B45D7F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244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UI 공개 범위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9815D4-CD10-4156-9249-9AA02918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91150"/>
            <a:ext cx="449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77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350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8350F"/>
                </a:solidFill>
                <a:latin typeface="Malgun Gothic"/>
                <a:ea typeface="Malgun Gothic"/>
                <a:cs typeface="Malgun Gothic"/>
              </a:rPr>
              <a:t>현재 상단 V-model 화면은 UDS↔SUTS, SDS↔SITS,</a:t>
            </a:r>
          </a:p>
          <a:p xmlns:a="http://schemas.openxmlformats.org/drawingml/2006/main">
            <a:pPr algn="l">
              <a:defRPr sz="1125" b="0">
                <a:solidFill>
                  <a:srgbClr val="78350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8350F"/>
                </a:solidFill>
                <a:latin typeface="Malgun Gothic"/>
                <a:ea typeface="Malgun Gothic"/>
                <a:cs typeface="Malgun Gothic"/>
              </a:rPr>
              <a:t>Source↔VectorCAST만 표시한다. 시스템 밴드는 계산되지만 숨겨져 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01BB90-4FD5-449C-88D5-7B7677AF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근거: report_gen/trace_link_table.py · backend/routers/jenkins.py · SrsSdsSection.jsx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1B31AB-A61A-4A3D-9DA8-D5BDC6AC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 / ISO 26262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071EC7-9B5E-4AB3-9F1A-AA6E6084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609084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AB6DD-871D-4FFA-A25C-6C128053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PRODUCT EVIDENCE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18160F5D-0ED6-4FAC-9033-43096E72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0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현재 ARIA는 운영 접근 경로와 실제 UDS 산출물을 이미 보유한다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98E47-E607-4F26-96A0-7979EF59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429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E3A99-B81A-4199-BE87-F808A1C8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242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현재 화면·산출물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14C4E-A201-4C18-AA08-EDE0D54D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3486150" cy="44005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b78c270844c10"/>
          <a:srcRect xmlns:a="http://schemas.openxmlformats.org/drawingml/2006/main" l="7031" t="0" r="70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485900"/>
            <a:ext cx="3143250" cy="2057400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D0090-3650-47E3-96DC-62F297A5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운영 접근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289F3-858C-41BE-B126-C317608E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JWT 기반 로그인과 비밀번호 정책을 제공한다.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이 캡처에는 자격 증명을 입력하지 않았다.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199EA-BC75-4B90-9803-F1074123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400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2B7FD-7DE0-4191-B517-A279E34C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LIVE CAPTURE · 2026-07-24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C97BF-0B84-49C9-900D-7284EDC9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257300"/>
            <a:ext cx="7562850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92cd7f910428e"/>
          <a:srcRect xmlns:a="http://schemas.openxmlformats.org/drawingml/2006/main" l="0" t="510" r="0" b="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1428750"/>
            <a:ext cx="46291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6768f4c23451c"/>
          <a:srcRect xmlns:a="http://schemas.openxmlformats.org/drawingml/2006/main" l="24563" t="0" r="245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1428750"/>
            <a:ext cx="2381250" cy="27241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2A6E3-EA47-454A-91A0-C6BC4321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62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UDS 로직 다이어그램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1CB2AF-D4E2-4D12-B3FA-5FD33DB9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62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유닛 구조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E1EDF-0CAB-4963-943F-09F10D9E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62500"/>
            <a:ext cx="681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함수·입출력·ASIL·관련 ID와 제어 흐름을 문서 산출물로 구성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C8FEF-D179-4ABF-8D27-ADB7487A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자료: 현재 ARIA 로그인 캡처 · docs/logicdiagram.jpg · docs/unit structure.jpg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C9F74-CBA1-4583-9659-E79A88C5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 / ISO 26262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7D49C-BDAA-4250-A324-42507E05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086831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93A88C-BD8E-49B4-B21A-D80C2836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DOCUMENT PIPELINE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413D371A-262D-4F88-B27B-71C5B084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결정적 파서가 기준을 만들고, AI는 설명·초안·검토를 보강한다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82C8B-F8DC-4FBE-8519-BAA038B1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429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06F63-DD66-42B9-AB28-FD266352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242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현재 구현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5A9BC-272C-4CBD-BF79-5362DF15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714500"/>
            <a:ext cx="5143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38D4F-FB85-42E0-B757-39713BD0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14500"/>
            <a:ext cx="5143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4A910-F124-4011-BFF1-CFD131FE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5143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D3254-0C0D-4767-B686-528022E7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14500"/>
            <a:ext cx="5143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5C0C0-3CC8-4E5E-9BFD-41E4D95D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581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896D8-8CAC-487A-908F-E694FA3D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58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82FB8-B39B-4808-AFC6-E13C6135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859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입력 파싱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CC6E9-0EE4-42CF-B263-65D01179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문서·소스·시험도구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6E224-EF58-4EEE-A6E8-BD526634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314450"/>
            <a:ext cx="1581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D2F2A-4B8C-45AB-A7B5-E4CF32DD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66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58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BD840-8C90-44E9-BFEE-65BE4007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4859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ID 정규화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FD620-EA5C-49A1-9B76-47826133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954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요구·함수·TC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013CF-B629-4A3F-B4EE-567F8D99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314450"/>
            <a:ext cx="1581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FBE07-6670-4E5E-B277-23BAEDD1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66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58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595DD-8EB6-47EB-9F08-4210A90A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4859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문서 빌더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77127-DB17-4A27-B0BE-F5E8101F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954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UDS·STS·SUTS·SITS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9E305D-C88A-4EAF-84CD-23A8C606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314450"/>
            <a:ext cx="1581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87201-46D8-4659-8728-C0A21122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66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58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EFAA76-4669-417C-A7F4-86C2245D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859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AI 보강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D98653-C3C8-4C27-84BF-FBBF5500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954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설명·감사·초안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517B91-4A4B-4D3D-AED9-D893D701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14450"/>
            <a:ext cx="1581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0FA01A-4CD3-4E53-8BC2-40B3DF4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66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58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8C2A0E-2CF8-4A33-BAEA-24F4A046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4859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4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구조 검증·출력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3B47BF-1FCB-4507-A665-F0CC5D40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954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DOCX·XLSM·리포트</a:t>
            </a:r>
          </a:p>
        </p:txBody>
      </p:sp>
      <p:graphicFrame>
        <p:nvGraphicFramePr>
          <p:cNvPr id="62" name=""/>
          <p:cNvGraphicFramePr/>
          <p:nvPr/>
        </p:nvGraphicFramePr>
        <p:xfrm>
          <a:off xmlns:a="http://schemas.openxmlformats.org/drawingml/2006/main" x="552450" y="2743200"/>
          <a:ext xmlns:a="http://schemas.openxmlformats.org/drawingml/2006/main" cx="110871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3905250"/>
                <a:gridCol w="3333750"/>
                <a:gridCol w="2419350"/>
              </a:tblGrid>
              <a:tr h="492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결정적 입력·생성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/ RAG 역할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UDS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C/H + SRS/SDS → 함수·구조·DOCX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RAG 문맥, 설명·review·audit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</a:t>
                      </a:r>
                    </a:p>
                  </a:txBody>
                  <a:tcPr marL="76200" marR="76200" marT="66675" marB="66675" anchor="ctr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STS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SRS/SDS/UDS/STP/HSIS → 시험 XLSM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설명·후보 보강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SUTS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소스·함수·경계값·MC/DC → 단위시험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 초안·검토 보강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</a:t>
                      </a:r>
                    </a:p>
                  </a:txBody>
                  <a:tcPr marL="76200" marR="76200" marT="66675" marB="66675" anchor="ctr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SITS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모듈 흐름·인터페이스 → 통합시험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ai_config는 reserved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9240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구현 · AI 미연결</a:t>
                      </a:r>
                    </a:p>
                  </a:txBody>
                  <a:tcPr marL="76200" marR="76200" marT="66675" marB="66675" anchor="ctr">
                    <a:solidFill>
                      <a:srgbClr val="FFF7E6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SwUT / SwIT / SwSA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실행·커버리지·QAC/MISRA 통합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편차 설명·근거 제시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구현·수동 검토</a:t>
                      </a:r>
                    </a:p>
                  </a:txBody>
                  <a:tcPr marL="76200" marR="76200" marT="66675" marB="66675" anchor="ctr"/>
                </a:tc>
              </a:tr>
            </a:tbl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68F24E-B4BB-4E49-BA69-75FCB54F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SwIT 산출물과 AI 생성 내용은 자동 생성 초안이며, 전문가 검토 책임을 대체하지 않는다.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160F06-03CB-4F22-84C5-7522AD04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근거: backend/routers/local.py · generators/sts.py · generators/suts.py · generators/sits.py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DBE6D8-9BCB-42D5-BAF4-A44BC40D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 / ISO 26262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8DE423-D87E-461F-9B9D-1A6767C8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58609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D572C-2C09-48D2-B31E-81E281FF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SAFETY &amp; QUALITY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564C5746-1052-4B49-AE90-1037F90C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ARIA의 품질 게이트는 ASIL별 증거 수준을 수치화한다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69864-4A8D-4A8B-BC0C-221BFC99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429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53F4B-1355-44B7-A7EC-1693E68F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242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8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프로젝트 구현 규칙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495300" y="1485900"/>
          <a:ext xmlns:a="http://schemas.openxmlformats.org/drawingml/2006/main" cx="68580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1123950"/>
                <a:gridCol w="1123950"/>
                <a:gridCol w="1123950"/>
                <a:gridCol w="1104900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증거 기준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QM/A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ASIL B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ASIL C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ASIL D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Statement coverage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Branch coverage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참고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MC/DC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참고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참고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권장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실행 pass rate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 추적 기대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시험 ≥1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시험 ≥1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SUTS+SITS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SUTS+SITS</a:t>
                      </a:r>
                    </a:p>
                  </a:txBody>
                  <a:tcPr marL="76200" marR="76200" marT="66675" marB="66675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605F5-BCC2-4139-9099-1FFD4538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2190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8CD4E-BB03-4402-91B9-C5704923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2190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8972A-0794-46CC-8463-B072F9A8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81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CD00B-1624-4E4F-8E15-473BD382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90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Quality Evaluator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2148C-3C30-4C7A-8E68-35F9D7A2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점수 · gate · threshold · issue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48ABA-02AA-4EFD-8B76-AE93D455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59D54-E4D5-4636-9D32-38107297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242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Quality Recorder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9917F-7048-4570-B647-004B53E0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242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SQLite 이력 · 모델 · 문서유형 · 추세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EADD5-E450-4F68-AD05-A41B2D0E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938FC-DB0E-44AF-9C8C-9B051FC6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Dashboard &amp; Advice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18B64-47AD-4541-8C77-E90063E8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577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run · trend · gate rate · suggestion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7F7C3-067E-484E-B4B7-B3EC7EF6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685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2C788-74E6-4BBA-9350-C4528769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현재 한계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48DA2-E8F4-4573-82B4-5498D07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1495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350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8350F"/>
                </a:solidFill>
                <a:latin typeface="Malgun Gothic"/>
                <a:ea typeface="Malgun Gothic"/>
                <a:cs typeface="Malgun Gothic"/>
              </a:rPr>
              <a:t>품질 실패가 모든 생성·배포 경로를 자동 차단한다고 보기는 어렵다.</a:t>
            </a:r>
          </a:p>
          <a:p xmlns:a="http://schemas.openxmlformats.org/drawingml/2006/main">
            <a:pPr algn="l">
              <a:defRPr sz="1125" b="0">
                <a:solidFill>
                  <a:srgbClr val="78350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8350F"/>
                </a:solidFill>
                <a:latin typeface="Malgun Gothic"/>
                <a:ea typeface="Malgun Gothic"/>
                <a:cs typeface="Malgun Gothic"/>
              </a:rPr>
              <a:t>MISRA/Secure 위반 수는 추세·참고 지표로 취급되는 구간이 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5DB59-0A43-493E-A1E0-4ED14DD4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근거: workflow/quality/evaluator.py · workflow/coverage_gap.py · backend/services/swsa_aggregator.py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6A98-D98B-4C95-99B7-43AFB526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 / ISO 26262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12FE0F-E44D-4E72-A8E5-D67BD8F1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40800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DA2BFAD-C0E0-40AA-81F3-205B0C9F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AI ASSISTANT &amp; RAG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E4AA697E-545B-4C63-A177-C6468070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8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현재 AI Assistant는 근거·승인·이력을 갖췄지만, RAG는 로컬 중심이다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5D751-C3A9-4CFA-BB5E-D2A86999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429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3D014-3AC9-4CCA-BD29-2BFF4EB4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242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현재 구현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A270A-DD95-4490-8677-E6A6B30E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90700"/>
            <a:ext cx="5715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94E94-86CC-4A62-9446-EADD5401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5715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1B2A5-7F37-47B2-8BE2-F953316D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715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BA8AB-3C2C-40AF-86BF-59F61D2A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5715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DF8BE-4A4B-4C7E-B3DF-170ED3FB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0958C-CD43-4E1D-8E90-C9D64C64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2DAD8-CFDC-4A52-ADA3-A231D10A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097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질문 분류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5263F-AD0F-4477-9A36-C2283AD3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도메인 라우팅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B913C-5DB0-4DE4-B113-D15A6592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097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9BEAD-93F6-4EAD-8622-D8FF0C01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5811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D8D3F-D670-4A78-A656-A6E773D3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097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컨텍스트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CF3DB-9232-48D8-BCBD-A3EA27D5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71675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문서·코드·리포트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3BE49-F85F-4761-8914-40310A60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097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6985E-FF71-452B-8C04-00FFAB80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5811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4A4ED-C473-46C5-802B-ACECEF74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097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모델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2A161-A183-4DAF-8E71-ACDFC681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71675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Gemini / adapter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DBF2D-9F89-40DF-94C4-6B096C2E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097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1860E6-9145-471A-AAC3-62355F61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811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2090E0-4F3D-431C-9F8D-D6CB4E5B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097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0350E-E069-4A1A-8954-6486239E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71675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HITL 감사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BB5BF-256B-414F-9331-A1535309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097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832A10-4502-48C6-AE11-069D20C2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811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678749-FDE7-4913-B911-A048C4FF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097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답변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78D6C1-B522-4D26-AFAA-54E29375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71675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근거·다음단계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807112-32C7-412E-8DB8-FA6FB084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33528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1D8B33-F63F-4DB0-87BA-C0F8F9E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06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C52A3B-BA5A-4CAE-B213-D271220F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004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자산군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5A27E5-7496-46BA-88D8-45AE01E5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1050" y="38481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EF5466-2529-4AFD-85BC-B7A7DB2F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VectorCAST · UDS · Requirements · Code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74E537-3AB7-4EE5-87A3-17B726FC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81300"/>
            <a:ext cx="33528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387695-F149-47F7-878C-BF8F2B27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106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1CAADA-9D6B-4897-A393-7D002CB2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004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파일 확장자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EC54DA-5EA5-4B82-A00F-D0E0078A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76750" y="38481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77819D-8F40-4EB5-BB51-BF1E5153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576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PDF · DOCX · XLSX · HTML · C/C++ 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E6255B-4B90-4E69-9D43-FD15C299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33528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90A2A1-5588-4F5F-8EAD-6AF4A9A7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106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DCD962-25C8-4466-BA84-6A947A90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04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저장 모드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083F70-1520-4874-98EB-FB640D34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450" y="38481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971C58-1F0D-424D-980A-C2AE2CE1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SQLite 기본 · pgvector 선택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85C35B-0E56-4065-81C8-5DCDD1E0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4BC447-528E-48E7-AC56-5B2AF592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4933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형식별 chunking + lexical/vector RRF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52731E-AF1C-4AE6-9CE6-A696344D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4CFFE3-D634-4C35-9620-E492FF85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76875"/>
            <a:ext cx="4933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sources · citations · evidence · next steps 반환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E73F4E-A6B8-48CA-B59E-B6B5E79C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A22DCA-B227-40BE-8673-F9DDA1E2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91200"/>
            <a:ext cx="4933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성공 수정과 runtime summary를 재학습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B06AB4-E803-44A1-B792-1A75D0FC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3A73F0-A7C2-437A-9720-E8F828BE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4933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SQLite는 O(N) 검색, pgvector는 vector 중심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AE390D-BBCB-448F-B840-146FE650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34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F72C00-6241-4B00-930A-E322666B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76875"/>
            <a:ext cx="4933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trace/impact/quality/approval 자동 ingest 미연결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938605-A1DA-4234-9EEE-29C2C097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48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0FBB08-8F05-4EA2-BF26-9A4AEDF1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91200"/>
            <a:ext cx="4933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엔터프라이즈 ACL·승인·보존 수명주기 부재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68C2D7-5AF1-4365-9AB5-219A22B7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근거: AiAssistSection.jsx · backend/routers/chat.py · workflow/rag · assistant_service.py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0F8B6B-2068-435C-B758-6C4CA2A0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 / ISO 26262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B4D3D9-2C25-4A11-8130-18B97F9C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43933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E2BBD-7A72-4AFD-AD83-3424D295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PRODUCTION GAPS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C9FFA252-6969-408B-A3A6-B58C033E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공유 자산화의 선행 조건은 검색보다 신뢰·경계·운영이다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A8CF2-3337-469A-8D08-31381154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429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E2786-5406-41CB-939C-2FEBC213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242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현재 → 2026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95300" y="1428750"/>
          <a:ext xmlns:a="http://schemas.openxmlformats.org/drawingml/2006/main" cx="11201400" cy="4267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3162300"/>
                <a:gridCol w="2914650"/>
                <a:gridCol w="3695700"/>
              </a:tblGrid>
              <a:tr h="6096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현실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 조치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수명주기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mtime:size 증분 식별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9240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구버전·삭제 문서 잔존</a:t>
                      </a:r>
                    </a:p>
                  </a:txBody>
                  <a:tcPr marL="76200" marR="76200" marT="66675" marB="66675" anchor="ctr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SHA-256 · version · tombstone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접근경계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project_root는 metadata/boost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9240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간 정보 노출</a:t>
                      </a:r>
                    </a:p>
                  </a:txBody>
                  <a:tcPr marL="76200" marR="76200" marT="66675" marB="66675" anchor="ctr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ACL을 vector 검색 전 적용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검색품질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O(N) cosine · 단순 token score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9240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확장성·정확도 한계</a:t>
                      </a:r>
                    </a:p>
                  </a:txBody>
                  <a:tcPr marL="76200" marR="76200" marT="66675" marB="66675" anchor="ctr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HNSW + FTS/BM25 + reranker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임베딩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random fallback · zero-padding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9240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조용한 무효 vector</a:t>
                      </a:r>
                    </a:p>
                  </a:txBody>
                  <a:tcPr marL="76200" marR="76200" marT="66675" marB="66675" anchor="ctr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fail-visible · model/dim reindex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single worker · cache staleness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9240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중단·정합성 리스크</a:t>
                      </a:r>
                    </a:p>
                  </a:txBody>
                  <a:tcPr marL="76200" marR="76200" marT="66675" marB="66675" anchor="ctr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durable queue · multi-worker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거버넌스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승인·분류·보존 필드 없음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9240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안전근거로 오사용</a:t>
                      </a:r>
                    </a:p>
                  </a:txBody>
                  <a:tcPr marL="76200" marR="76200" marT="66675" marB="66675" anchor="ctr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draft→approved→revoked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5ED41-7FBA-490E-900B-FB0DCF64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112014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F61C0-651D-46C0-86EB-514F413B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전환: ‘chunk 저장소’ → 원본 계보·승인·권한을 가진 Evidence Asset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036C0-A393-421A-ABB2-4F9C94F0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근거: workflow/rag/__init__.py · searcher.py · embedder.py · ingestor.py · backend/routers/local.py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AB0F8-5E00-498A-90FE-5872B8B1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 / ISO 26262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56C13-1E31-4E81-826D-63BE3CA9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017137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52354B-9575-4D0F-B2D1-A7FE5988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2026 H2 ROADMAP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C7C54DB0-5A46-4F02-8DA6-7F1A452B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5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2026 하반기는 기반 → 검색지능 → 운영보증의 3단계로 완성한다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7C7F3-4A33-4242-98B0-1EB6A507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429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9FCCE-E89F-42A8-A582-D72AD323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242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2026 제안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793C1-B4A3-477F-A2D9-24ACD45D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287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78CAC-2725-4928-8493-85849133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335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8월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CE261-65CC-4221-B701-B22ED077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0" y="18859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5D0B0-9FA0-4EA4-98EF-7318B0D7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287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E095C-91EE-42BC-B2F9-9BB420CA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335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9월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1D183-9C87-4A2D-8C88-D50176E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33900" y="18859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4E49F-BF6F-4822-A512-1A84CC14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9E9C7-8AA2-4AEC-911E-B19407AD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335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10월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C109B-2F0E-4236-B15F-584C11AE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10300" y="18859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F8890-01EB-4887-9C2E-7E56652C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287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BCDA4-2980-4CA2-B41B-F410F01C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335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11월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7428F-371F-4479-9836-72D94AD8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6700" y="18859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01C20-3E71-4EE8-AE44-5B365567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287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6BCB3-790F-4044-AF97-9443E588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335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12월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DA85B-CED6-47F4-A92A-DC019B6A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63100" y="18859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2FCBA-4EFF-4A15-8647-F4D016AF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39500" y="18859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3BEA1-DEA6-4D1C-9AC4-BB9E394D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8–9월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53535-0448-4D09-B374-D9CB00AE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Evidence Foundation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BCDA26-D683-4A82-B10F-6F408B13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33600"/>
            <a:ext cx="3009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0CBF7-3E72-476A-87BA-36C8A9D0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098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공통 자산 스키마 · SHA-256/version · ACL/classification · event ingest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D49219-936C-4E19-865E-FBBB67C1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10–11월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6C7B8-F124-42C0-A150-2D4675C5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0515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Retrieval Intelligence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24B02A-AEDA-4778-8028-9E18E819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3009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5258B8-D813-48C5-A260-8E1D8CDC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FTS/BM25 + dense + reranker</a:t>
            </a:r>
          </a:p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metadata filter · 근거 인용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741CC-22C8-4265-8FDC-0357BF70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52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11–12월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C96FE7-ABC5-44F9-92F6-C616D17E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767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98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Assurance &amp; Scale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F92076-35A6-4218-85BB-8B0421E2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76700"/>
            <a:ext cx="3009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92400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2C9782-9522-4BB8-9138-97B4CC03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Gold eval · durable queue · multi-worker · SSO/RBAC · backup/audit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527889-8D1C-4379-8CBB-AF672723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Cross-cut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3BBF9D-C175-4852-9CB5-6A17F406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435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보안 · 권한 · 평가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612795-DCAE-4A4B-8F6C-64647E00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03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67062F-84CF-42B0-8F78-A5745905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181600"/>
            <a:ext cx="773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위협모델 · 감사로그 · 승인정책 · 운영지표 · 데이터 분류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0FA84B-0A67-4E7D-9EF0-582F12A2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1201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88C903-4039-4494-9ADE-C4740FD0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Q3에서 baseline과 Gold 평가셋을 먼저 만들고, Q4 기능은 측정 가능한 gate를 통과할 때만 운영 전환한다.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6C14E6-5842-4844-97BF-16E48005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2026 제안 · 현재 구현과 분리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B67A28-956F-4A89-8353-31793E28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 / ISO 26262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8A4BBE-2B00-4AA3-A94E-6C557905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679000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AB9AB17-0A4A-4EE8-B6D0-1B3F0359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TARGET ARCHITECTURE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17103413-78B8-481A-91C0-2371F3E7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5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목표 구조는 원본 증거와 검색 인덱스를 분리하고 모든 답변에 계보를 붙인다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E9FB8-7BD0-43DA-AA03-13896B53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429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067F8-0D82-4F05-950C-AD3E8BD2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242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2026 제안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47F2C-0A77-4025-9B83-3FC1E707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419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CBA07-F1FC-4B52-924D-5ED17F04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00350"/>
            <a:ext cx="419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C4F0C-F7F2-41EE-B466-37922537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00350"/>
            <a:ext cx="419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AA0A9-61E1-4228-9928-E4FE6050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00350"/>
            <a:ext cx="419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B2AD7-F835-44F4-A7A8-C869E391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419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57CBA-3D88-43CA-A0E6-D4CF5E55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62100"/>
            <a:ext cx="1504950" cy="2647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B0066-770E-497D-B733-BFB12B65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C99DF-CAAD-4190-87D7-2CD9178E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7C338-ED80-4B97-94F8-F3B16410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27622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24252-3897-4378-8CC7-FD6B7616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28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SCM·ISO 문서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76973-580C-4150-92A6-84D812EB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ARIA 산출물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B0645-2853-49DA-90BF-22886E21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Jenkins·시험도구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9479B-3BB9-4911-9A32-A1A3F744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62100"/>
            <a:ext cx="1504950" cy="2647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C1C3D-E86B-46FA-9A27-36E3A8CC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526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A5F82-22E5-40D7-BDE7-09B0C3B9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7170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Event / Connector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A8109-71DE-4284-A1DD-BEBB3A40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27622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75F8B-A24B-4995-8C78-ED6FA15E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28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webhook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AD0E3-604A-4493-8F68-8EE9DB2A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718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build-complete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8BDAF2-4EF7-4A7C-80A4-6DE771E4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47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scheduled reconcile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4B686A-C874-41FA-AD37-6DA1D07F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62100"/>
            <a:ext cx="1504950" cy="2647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F69932-085D-4372-86B9-94903F5F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526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98E566-7013-4F15-A77B-670DDEE3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7170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Immutable Raw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BF986E-5203-4C10-A557-850DE8A8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7622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C93D83-3A39-4B5E-BB6A-57961527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28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원본 artifact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51B1F2-6664-4729-9C76-09A8B239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718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SHA-256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74ADEE-4020-4299-ABBC-74FFE5E7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147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revision·build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618581-2829-4F25-BF4D-A182E241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1504950" cy="2647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F43428-B49D-4B33-B312-D65AFAA5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3C22D3-DD20-4A3E-ACE4-BCD23A73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7170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Asset Catalog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49C544-8EF3-436B-A388-B9FB5852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29300" y="27622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88AB99-10E0-40E7-86AB-E1DEB3DB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28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Asset·Version·Chunk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34A7B6-ED47-4942-AB8D-F022B05E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718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TraceEdge·Metric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70CBB3-47EC-41F7-BB35-2C67358C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147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approval·ACL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689366-3355-40A7-9586-0471081D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62100"/>
            <a:ext cx="1504950" cy="2647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740598-14EB-4D6C-9E2A-F920ED6E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526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C8A602-29F9-45FB-815C-4F5EA33B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7170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Hybrid Retrieval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DA65FE-FDF6-4F9D-B623-7E88105C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0950" y="27622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26DFF1-5EA5-4A17-A1B4-690CEF6D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FTS/BM25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20C28E-3D42-4F18-8652-F56BDACB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pgvector HNSW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42B34D-9041-4845-8753-22FC4E0A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147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metadata + reranker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CB9858-0277-4782-929B-06ED54DF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62100"/>
            <a:ext cx="1504950" cy="2647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EC14B4-D172-4666-B96F-BAA52663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526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37CB8C-8CCB-4820-A96E-6D941202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7170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RAG / Consumer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6FB235-58A1-434F-AA42-EF895A0F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72600" y="27622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903A70-C940-4243-A359-6A993CE4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Assistant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14E33B-BFE0-4F68-A4FB-C0076B97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718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문서·impact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75E1C5-B17E-4273-8EB0-BBF4AF74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147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audit·dashboard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08CF6E-4E64-4862-9D7E-26AB016D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48200"/>
            <a:ext cx="103632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DDBFEC-AD25-4AE0-B9B3-EBEE3621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rPr>
              <a:t>Governance plane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4A0717-92B5-47AD-951C-97DFC734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76800"/>
            <a:ext cx="14668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599913-379D-4FCA-932A-CF62AC04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ACL / classification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5742D9-7F48-42F9-AFE9-A88B92B4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76800"/>
            <a:ext cx="14668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C52372-087E-4F9E-BF82-394B7C5D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86325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version / hash / tombstone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69BE14C-FDB0-4ADD-943E-31F89049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76800"/>
            <a:ext cx="14668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ECD934-5D6C-40E7-B2D0-B801DA34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886325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approval / retention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8FAF17-6AB6-4E1A-941D-1512127F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76800"/>
            <a:ext cx="14668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5FFCAB-03BA-468E-BD1A-3C89EE8D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86325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embedding model / dimension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B3B6BB-727F-4B98-B5B0-91857537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76800"/>
            <a:ext cx="14668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EB42759-1C53-4748-9D88-557C0582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86325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ingest·query·citation audit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56DC2B4-B7FF-4B39-A1E4-B565C6C4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648200"/>
            <a:ext cx="819150" cy="10477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5C6D0FF-9C45-4038-BCDA-CEFFD076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905375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5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Optional</a:t>
            </a:r>
          </a:p>
          <a:p xmlns:a="http://schemas.openxmlformats.org/drawingml/2006/main">
            <a:pPr algn="ctr">
              <a:defRPr sz="105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Graph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5B95EE-A12B-4609-AE10-9A0B3DA0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48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멀티홉 감사용 projection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5AA2B0C-1752-47A6-81F8-DE26B0B9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2026 제안 · 원본 증거와 검색 인덱스 분리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827670-718F-4986-9A1C-8BF18AB8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 / ISO 26262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65B0B1C-E4C5-4129-94DC-AF3D656A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23701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1E4E9-7F3B-4924-BC8C-119C76A6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REUSABLE ASSET PORTFOLIO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951FEA10-B434-47BD-A7A2-355A7694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재사용 가치는 원본을 ‘증거 단위’로 바인딩할 때 생긴다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B4926-D104-4835-98EA-76505DC8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429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693CB-90CA-4999-A9DD-9B2B0CE0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242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2026 제안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57200" y="1352550"/>
          <a:ext xmlns:a="http://schemas.openxmlformats.org/drawingml/2006/main" cx="11277600" cy="4572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895600"/>
                <a:gridCol w="3238500"/>
                <a:gridCol w="3143250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자산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재사용 가치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바인딩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재사용 조건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ISO 문서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요구·설계·시험 패턴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doc/version/req/page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승인·권한·유효기간</a:t>
                      </a:r>
                    </a:p>
                  </a:txBody>
                  <a:tcPr marL="76200" marR="76200" marT="66675" marB="66675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소스·commit·diff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영향도·구현 패턴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repo/revision/function/line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정확한 hash · 고객 분리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VectorCAST·QAC·coverage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 시그니처·개선 근거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tool/version/build/TC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환경·분모·예외 포함</a:t>
                      </a:r>
                    </a:p>
                  </a:txBody>
                  <a:tcPr marL="76200" marR="76200" marT="66675" marB="66675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TraceEdge·matrix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디지털 스레드·ASIL gap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target/related/band/source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직접성·confidence·review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Generation·quality run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모델·파서·품질 추세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project/doc_type/model/gate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격리·baseline</a:t>
                      </a:r>
                    </a:p>
                  </a:txBody>
                  <a:tcPr marL="76200" marR="76200" marT="66675" marB="66675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승인된 fix·decision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방지·작업 가속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issue/change/outcome/approval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성공만 Gold 승격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Logic·unit diagram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문서화 구성 자산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source revision/component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watermark·version·ACL</a:t>
                      </a:r>
                    </a:p>
                  </a:txBody>
                  <a:tcPr marL="76200" marR="76200" marT="66675" marB="66675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70D77-7888-4FAF-981E-0EE7FC1D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11277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54C8C-CCE0-4F62-8478-E61DB2C5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원시 대화·개인정보·내부 경로는 기본 제외하고, 승인된 결정과 비식별 패턴만 자산화한다.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70D2D-3682-4CEC-9D1B-BDA51A4E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2026 제안 · current trace_link_table/quality history를 초기 seed로 활용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93BD0-B682-4D61-8C3A-E3B5BC4C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 / ISO 26262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207F7-F1BD-48B6-B465-AAC1C84C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889467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088519-8D2B-476F-B3AB-36A52142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GOVERNANCE</a:t>
            </a:r>
          </a:p>
        </p:txBody>
      </p:sp>
      <p:sp>
        <p:nvSpPr>
          <p:cNvPr id="2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CCA2A435-7E02-4036-8877-3F63D896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Safety-grade RAG는 승인된 원본을 찾는 보조층이어야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D72DF-4475-44BB-928D-458B527E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429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7649B-8C21-4828-A8A0-1AEC8B65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242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2026 제안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5108B-082C-4CE7-B2AC-E0FE72EF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66900"/>
            <a:ext cx="5715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0CAB7-6BB3-452F-B19C-4E1B2EB9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66900"/>
            <a:ext cx="5715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ECE93-417C-4477-8C4F-99E12BFD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5715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2C685-8168-42CE-A55E-96D8CE0B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905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3A5A9-7F17-447B-A464-64C1B0CF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97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Draft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5A0DA-FD69-4E84-AF06-F30EA732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생성·수집 직후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A0783-6494-4A0D-A063-32BAAA6D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47800"/>
            <a:ext cx="1905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AF9AA-B317-47DA-A58D-022A5349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097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Validated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139B2-607E-4E41-A6BE-8C7AFB16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812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구조·출처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63EE4-7E7B-4BBA-8149-EF114904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47800"/>
            <a:ext cx="1905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CB0DB-906B-4C31-A6D6-3A1CB631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097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Approved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B6ABD-244A-4EAD-ACE4-371C95DC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812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전문가 승인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3CDF5-AA3E-4444-8186-8C90B514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47800"/>
            <a:ext cx="1905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07216-007A-4275-BFAC-17F8B1AA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097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1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1C1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91C1C"/>
                </a:solidFill>
                <a:latin typeface="Malgun Gothic"/>
                <a:ea typeface="Malgun Gothic"/>
                <a:cs typeface="Malgun Gothic"/>
              </a:rPr>
              <a:t>Superseded / Revoked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3D18A-1661-4472-8542-1DA98748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구버전·철회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88FA3-987E-469C-99FA-224FAD20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05075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안전 관련 답변 사용 가능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639C6-DF02-4729-B439-B3C480C9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72250" y="23241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7EC3B1-1802-40AD-B360-16F8983C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52768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877C3-FD92-473F-806E-AC18C134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Non-negotiable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87F1B5-3BDD-4C83-90F7-8C77BB1C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363FEE-B2E2-46EF-98E3-D2AE68C1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vector 검색 전에 project/tenant ACL 적용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5E3727-814F-4B8D-BB3F-9ABD69F8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EF30E9-1507-429C-BD96-2FF7CF35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전송·저장 암호화, secret vault, 외부 embedding 전 redaction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347575-6612-4D3B-A5A4-B197F994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E7228B-FA48-4109-B90F-83640315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hash·version·tombstone·reindex의 결정성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42E59A-FD02-4EC2-BCEF-AFB669B3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081C11-C811-4BAA-90C6-A58E3128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upload malware/type/size 검사와 temp 삭제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17C9B2-68AF-4B26-92AC-B2FE9C3A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9A3750-35F5-4DD5-901E-3CD43774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578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ingest·query·retrieved chunk·citation·model 전수 감사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1C9259-7231-4528-BE37-68D7A0D7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28950"/>
            <a:ext cx="56578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79DEAE-1F55-4ACA-9E45-BFCB7F66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Human authority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EFA47A-AC6B-4508-A443-2E80CA47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67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476203-7924-4B72-A173-EF3FEAF9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근거가 없거나 충돌하면 답변을 유보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47E8F8-3FFF-43A6-B396-302687D7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85F25B-5F7E-4FE2-9132-814302CC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Draft와 미승인 답변은 Gold 자산 자동 등록 금지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82CED3-BC21-4AD5-AC00-81EECC3B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91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35DCC5-1DE2-4130-ABAB-66AE9E38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339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답변마다 source/version/span/approval 표시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779169-686F-4F86-A272-6D76B341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5B190B-0C18-4BE1-A99B-00619F89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9585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승인·서명된 산출물이 최종 SSOT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219BCB-281E-496B-B846-E82B4679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14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2FF374-D71D-4334-B27E-303BFFEA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578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ISO 26262 인증·tool qualification을 대신한다고 주장하지 않음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987C33-3476-4B94-9A9E-2627B7F8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63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D54009-7E33-4542-8B91-B967F2A7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1078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RAG의 역할: 승인된 원본을 더 빨리 찾고, 근거와 함께 적용하도록 돕는 것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819725-F327-4CEE-9D4D-8575AD9A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2026 제안 · human-in-the-loop 및 signed artifact SSOT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13FE49-9F26-42FF-A1D3-6395813E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 / ISO 26262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7103AE-95B6-4F1B-A3DD-8DC821D1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264904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03233-02AD-4D04-BA4E-9F9B0E1D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YEAR-END GO-LIVE GATES</a:t>
            </a:r>
          </a:p>
        </p:txBody>
      </p:sp>
      <p:sp>
        <p:nvSpPr>
          <p:cNvPr id="2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E23B8FD1-7063-4D58-AB79-55024015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3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연말 목표는 기능 수가 아니라 ‘신뢰 가능한 재사용’으로 판정한다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5D9A5-2E40-47DB-BC47-5BCE6E9F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429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B8A7B-C879-43B3-9501-7DE945FD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242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제안 목표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98397-E9F0-45C0-80D3-C8A0FA56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Q3에 baseline과 Gold 평가셋을 만든 뒤, 아래 gate를 만족하는 범위만 운영 전환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95300" y="1504950"/>
          <a:ext xmlns:a="http://schemas.openxmlformats.org/drawingml/2006/main" cx="112014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2857500"/>
                <a:gridCol w="5391150"/>
              </a:tblGrid>
              <a:tr h="4656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축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목표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</a:t>
                      </a:r>
                    </a:p>
                  </a:txBody>
                  <a:tcPr marL="76200" marR="76200" marT="66675" marB="66675" anchor="ctr">
                    <a:solidFill>
                      <a:srgbClr val="0B1220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 ID 검색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Recall@5 ≥ 90%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Gold query set</a:t>
                      </a:r>
                    </a:p>
                  </a:txBody>
                  <a:tcPr marL="76200" marR="76200" marT="66675" marB="66675" anchor="ctr"/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인용 정확도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valid citation ≥ 95%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span 자동·수동 대조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 답변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Approved source coverage 100%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ASIL B+ 질의 샘플</a:t>
                      </a:r>
                    </a:p>
                  </a:txBody>
                  <a:tcPr marL="76200" marR="76200" marT="66675" marB="66675" anchor="ctr"/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 경계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Cross-project leakage 0건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matrix red-team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신선도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Superseded answer &lt; 2%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version/tombstone 시나리오</a:t>
                      </a:r>
                    </a:p>
                  </a:txBody>
                  <a:tcPr marL="76200" marR="76200" marT="66675" marB="66675" anchor="ctr"/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성능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Retrieval p95 &lt; 5초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동시 질의·cold cache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계보 완전성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metadata 100%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ingest audit ledger</a:t>
                      </a:r>
                    </a:p>
                  </a:txBody>
                  <a:tcPr marL="76200" marR="76200" marT="66675" marB="66675" anchor="ctr"/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부재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 유보 100%</a:t>
                      </a:r>
                    </a:p>
                  </a:txBody>
                  <a:tcPr marL="76200" marR="76200" marT="66675" marB="66675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no-evidence safety set</a:t>
                      </a:r>
                    </a:p>
                  </a:txBody>
                  <a:tcPr marL="76200" marR="76200" marT="66675" marB="66675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89C7B-4577-4F73-B1DA-39E950D9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11201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F5BE5-AB8D-43DE-ACB1-DAAC8F11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수치는 2026 운영 전환을 위한 제안 기준이며, 현재 성능 실측치가 아니다.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B9CFB-C96E-425E-8990-6CD55EEB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2026 제안 KPI · baseline은 Q3에 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3D1D6-CAB7-4C1F-87FE-AC637446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 / ISO 26262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8D48C-956F-466F-A166-08D75098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31148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633E1A-3475-461D-94F4-F6B3EA68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DECISION</a:t>
            </a:r>
          </a:p>
        </p:txBody>
      </p:sp>
      <p:sp>
        <p:nvSpPr>
          <p:cNvPr id="2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E53AA8C7-DD88-4EBD-A680-4F8E032C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933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올해 승인할 것은</a:t>
            </a:r>
          </a:p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세 가지 작업축과 하나의 운영 원칙이다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F7C9C-3160-4833-801B-E807678D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95600"/>
            <a:ext cx="33909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2050B-ABFA-465F-9B49-36FD6FAE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550D4-C738-4414-BA04-59ADA8DF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Evidence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CBF64-EFE9-4F89-8C72-0D021545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원본·해시·버전·ASIL·승인·권한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FE20B-02A9-4215-8290-21EC65AF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95600"/>
            <a:ext cx="33909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89AE0-5121-4945-9804-26F8D517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268CC-0DF6-4C61-9D91-420A66B2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623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Retrieval Intelligence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7C8B2-0826-4542-B6CD-BAEE5F1A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90950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FTS/BM25 + vector + reranker + citation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824A6-05AE-4488-84D5-BB906BBB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3909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B251B-2B49-4E98-8714-928290A9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C8919-3C49-4F8F-BB64-5CD98CBA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Assurance &amp; 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1CB30-B069-49D4-9728-D2C1E9A3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평가·감사·queue·multi-worker·SSO/RBAC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9B89D-698A-4678-95D0-197D71E5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1104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CA431-07BF-4177-B574-4B12EE32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rPr>
              <a:t>운영 원칙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AD5DC-40F7-448C-8674-F43D2A9D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95850"/>
            <a:ext cx="901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승인·서명된 원본 산출물은 SSOT로 유지한다.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19C77-EF34-46F0-B489-518EE7CD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첫 30일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8D6D7-B5DF-4A11-8718-6A81768B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7215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① 자산·소유자·등급 inventory  ② TraceEdge+quality.sqlite pilot  ③ Gold query set baseline  ④ ACL 위협모델  ⑤ 1개 프로젝트 운영 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FFDBC-937F-49BA-A204-F71CB1B4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ARIA / ISO 26262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639ED-590C-49AC-B7B1-BFA7A756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85034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2026-07-24T06:31:04.3770000Z</dcterms:created>
  <dcterms:modified xsi:type="dcterms:W3CDTF">2026-07-24T06:31:04.3770000Z</dcterms:modified>
</coreProperties>
</file>